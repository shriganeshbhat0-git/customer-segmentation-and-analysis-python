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5" r:id="rId3"/>
    <p:sldId id="257" r:id="rId4"/>
    <p:sldId id="258" r:id="rId5"/>
    <p:sldId id="263" r:id="rId6"/>
    <p:sldId id="264" r:id="rId7"/>
    <p:sldId id="262" r:id="rId8"/>
    <p:sldId id="259" r:id="rId9"/>
    <p:sldId id="260" r:id="rId10"/>
    <p:sldId id="261" r:id="rId11"/>
    <p:sldId id="266" r:id="rId12"/>
    <p:sldId id="272" r:id="rId13"/>
    <p:sldId id="270" r:id="rId14"/>
    <p:sldId id="271" r:id="rId15"/>
    <p:sldId id="267" r:id="rId16"/>
    <p:sldId id="269" r:id="rId17"/>
    <p:sldId id="268" r:id="rId18"/>
    <p:sldId id="273" r:id="rId19"/>
    <p:sldId id="279" r:id="rId20"/>
    <p:sldId id="278" r:id="rId21"/>
    <p:sldId id="277" r:id="rId22"/>
    <p:sldId id="276" r:id="rId23"/>
    <p:sldId id="275" r:id="rId24"/>
    <p:sldId id="274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D6D2B-79B5-4D5F-839D-D24D21138EF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B7529-EAC4-4341-8F09-EEECCB625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2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B7529-EAC4-4341-8F09-EEECCB62587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2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C0D4-7139-2BF7-8578-D814FD5AD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26D5F-540F-F47F-A3BC-DD263E63C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7B9AA-2B70-B7CC-F6DF-35BBA995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35E25-AC99-9C7C-A968-E4666802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AFA57-B5B0-0CF6-7ACA-ECB7D745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70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8375-CF0D-7921-1B9F-45A4156D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E8009-9F3E-F4E0-81B4-A249E87F9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EC36-3CF3-1E3B-49B8-8C352B17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FC1F0-E103-6A8F-8FB6-C766B956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C98B8-3409-FEAA-4835-54106746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7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2EEE7-C225-2457-A417-0FE1297F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473E-DC54-41A7-80B5-886496FF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2CEA-A27C-550B-305F-8BE8ED16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8E92F-27CE-8FB5-D30B-D96BC7EA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A6231-91F2-4107-F70B-3E667FD8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74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4B8E-EB15-2A8E-B8E8-C9CCD92A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524D3-0127-629B-E7F0-0E332F4EC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27191-94BB-3414-1913-B016CAD51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4E0A8-8D2D-28CE-E31D-2AF3864E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2BFD7-7B6B-EBDB-543D-C6DC3349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4CBA6-D796-F530-D21D-374B8D24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57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0078-80EF-BE05-1DBF-A3CAF10B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DF0FA-C0AA-9B5A-9B59-79EAADE11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55DB3-D84B-CF40-C1E3-2D45E6906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A4E37C-8C63-8998-57BB-61BF4A1D4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F6BA8-7AB1-6B8D-4EF8-159F430CB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19CBAB-DF31-815E-F9C9-70D6D4DF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87FAF-D354-B412-4990-9B98EC6B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DAB93-166B-438A-672C-075F38EB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0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558B-2D2A-F7E0-5655-2F3573FA7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090D0-406B-B843-5549-C7412EAF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42494-976F-7F32-3258-D2A027386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1C3C1-7174-8D16-084C-D8DCC901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962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120119-C1A0-C0DD-0603-02FEB4B8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ED74D-77D7-8D6A-6B98-A48ACF64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5B94D-B05D-4557-483D-AFCB8895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17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8AAD-3A06-C66E-4BDB-14708111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2E07-08EC-CA23-D3B0-63B4214AB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85B42-1A4A-C7C4-72F5-5B6988398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F8254-5A26-CF03-C637-EBB67B921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C2889-C3C7-A9D7-014D-A266C0F1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6C8A8-A404-0B67-B4D5-C36AA58D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08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BE4F-D547-E19A-7C51-263868623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AF9CF-02B2-2E52-D36B-CB8D248E8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F4B77-7334-A50C-4005-B1C70E4EE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92EF7-6052-6B82-D811-8AA36A28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CC1AB-8879-8868-AEF1-32C30D64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50DE4-CAA4-51D4-7E15-1E5CE681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362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780D8-1B8C-633B-DB68-0AE229B5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F5947-4577-EB5C-0128-059604324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69007-21FD-8110-67C1-92670515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7059B-0312-229D-42A9-E34267DC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E13ED-3A35-3BF4-D470-3F17AC9C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494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D61E5B-31F1-25FC-BDD8-4F009CBDE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6C585-2386-57AE-4BCE-AC05207C3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B96EF-FC9C-A05E-E6BF-0036E453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2FBDD-C141-0881-3A2E-477DB0AD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4534E-C200-4FE1-26C1-FCB51B53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89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CE45F-4F50-47D1-0215-3EDFA08F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5AA4C-EBA8-107D-B275-17CBB9162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D22C4-A582-0572-D495-62DEBD247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662F0-1189-4BBE-8993-472485DB792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08829-8A5B-9E07-1EA9-A240A4DBD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B41CA-B992-AA55-B686-871BF1A91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F37BB-060B-44B1-8040-5D27658AF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4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96BB81-8805-C537-334C-622296C07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318" y="258558"/>
            <a:ext cx="8718694" cy="47067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8696A6-FEF3-FBA1-608E-416ED62321FA}"/>
              </a:ext>
            </a:extLst>
          </p:cNvPr>
          <p:cNvSpPr txBox="1"/>
          <p:nvPr/>
        </p:nvSpPr>
        <p:spPr>
          <a:xfrm>
            <a:off x="3785421" y="5388078"/>
            <a:ext cx="93406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Analysis with Python 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086529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26E26-4470-E34A-5157-01ED0ED2A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350" y="993057"/>
            <a:ext cx="9454792" cy="514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04575E-1DF7-38B8-C532-A4E4ACF3D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70" y="540774"/>
            <a:ext cx="9679659" cy="5233066"/>
          </a:xfrm>
        </p:spPr>
      </p:pic>
    </p:spTree>
    <p:extLst>
      <p:ext uri="{BB962C8B-B14F-4D97-AF65-F5344CB8AC3E}">
        <p14:creationId xmlns:p14="http://schemas.microsoft.com/office/powerpoint/2010/main" val="207350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751336-842D-9B58-C7A2-28190EB5D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561253"/>
            <a:ext cx="10609007" cy="573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05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AECB7B-A77E-3248-6EB3-D36CF0197B40}"/>
              </a:ext>
            </a:extLst>
          </p:cNvPr>
          <p:cNvSpPr/>
          <p:nvPr/>
        </p:nvSpPr>
        <p:spPr>
          <a:xfrm>
            <a:off x="796413" y="580103"/>
            <a:ext cx="10559845" cy="52897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53D9C-A620-6AB5-1DA8-D46D1DEB7ED9}"/>
              </a:ext>
            </a:extLst>
          </p:cNvPr>
          <p:cNvSpPr txBox="1"/>
          <p:nvPr/>
        </p:nvSpPr>
        <p:spPr>
          <a:xfrm>
            <a:off x="924231" y="727587"/>
            <a:ext cx="1025504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Introduction</a:t>
            </a:r>
          </a:p>
          <a:p>
            <a:r>
              <a:rPr lang="en-US" sz="1600" dirty="0"/>
              <a:t>This report presents a detailed customer segmentation study conducted using the K-Means clustering algorithm. The analysis focuses on identifying natural groupings within mall customers based on </a:t>
            </a:r>
            <a:r>
              <a:rPr lang="en-US" sz="1600" b="1" dirty="0"/>
              <a:t>Annual Income</a:t>
            </a:r>
            <a:r>
              <a:rPr lang="en-US" sz="1600" dirty="0"/>
              <a:t> and </a:t>
            </a:r>
            <a:r>
              <a:rPr lang="en-US" sz="1600" b="1" dirty="0"/>
              <a:t>Spending Score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The primary goal is to enable targeted marketing, improve resource allocation, and enhance overall customer engagement.</a:t>
            </a:r>
          </a:p>
          <a:p>
            <a:r>
              <a:rPr lang="en-US" sz="1600" b="1" dirty="0"/>
              <a:t>2. Business Objective</a:t>
            </a:r>
          </a:p>
          <a:p>
            <a:r>
              <a:rPr lang="en-US" sz="1600" dirty="0"/>
              <a:t>The mall’s management requires a data-driven segmentation strategy to:</a:t>
            </a:r>
          </a:p>
          <a:p>
            <a:r>
              <a:rPr lang="en-US" sz="1600" dirty="0"/>
              <a:t>Identify high-value customer groups</a:t>
            </a:r>
          </a:p>
          <a:p>
            <a:r>
              <a:rPr lang="en-US" sz="1600" dirty="0"/>
              <a:t>Understand spending behaviors</a:t>
            </a:r>
          </a:p>
          <a:p>
            <a:r>
              <a:rPr lang="en-US" sz="1600" dirty="0"/>
              <a:t>Improve marketing ROI</a:t>
            </a:r>
          </a:p>
          <a:p>
            <a:r>
              <a:rPr lang="en-US" sz="1600" dirty="0"/>
              <a:t>Tailor promotions to specific customer needs</a:t>
            </a:r>
          </a:p>
          <a:p>
            <a:r>
              <a:rPr lang="en-US" sz="1600" b="1" dirty="0"/>
              <a:t>3. Dataset Description</a:t>
            </a:r>
          </a:p>
          <a:p>
            <a:r>
              <a:rPr lang="en-US" sz="1600" dirty="0"/>
              <a:t>The dataset includes the following variables:</a:t>
            </a:r>
          </a:p>
          <a:p>
            <a:r>
              <a:rPr lang="en-US" sz="1600" b="1" dirty="0"/>
              <a:t>Annual Income (k$)</a:t>
            </a:r>
            <a:endParaRPr lang="en-US" sz="1600" dirty="0"/>
          </a:p>
          <a:p>
            <a:r>
              <a:rPr lang="en-US" sz="1600" b="1" dirty="0"/>
              <a:t>Spending Score (1–100)</a:t>
            </a:r>
            <a:endParaRPr lang="en-US" sz="1600" dirty="0"/>
          </a:p>
          <a:p>
            <a:r>
              <a:rPr lang="en-US" sz="1600" b="1" dirty="0"/>
              <a:t>Age</a:t>
            </a:r>
            <a:endParaRPr lang="en-US" sz="1600" dirty="0"/>
          </a:p>
          <a:p>
            <a:r>
              <a:rPr lang="en-US" sz="1600" b="1" dirty="0"/>
              <a:t>Gender</a:t>
            </a:r>
            <a:endParaRPr lang="en-US" sz="1600" dirty="0"/>
          </a:p>
          <a:p>
            <a:r>
              <a:rPr lang="en-US" sz="1600" dirty="0"/>
              <a:t>For segmentation, the most influential variables identified were </a:t>
            </a:r>
            <a:r>
              <a:rPr lang="en-US" sz="1600" b="1" dirty="0"/>
              <a:t>Annual Income</a:t>
            </a:r>
            <a:r>
              <a:rPr lang="en-US" sz="1600" dirty="0"/>
              <a:t> and </a:t>
            </a:r>
            <a:r>
              <a:rPr lang="en-US" sz="1600" b="1" dirty="0"/>
              <a:t>Spending Score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675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8F96C9-2826-5BEB-F7EF-105A8260A941}"/>
              </a:ext>
            </a:extLst>
          </p:cNvPr>
          <p:cNvSpPr/>
          <p:nvPr/>
        </p:nvSpPr>
        <p:spPr>
          <a:xfrm>
            <a:off x="838200" y="415259"/>
            <a:ext cx="10756490" cy="5761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041C8-ECC3-D034-848E-2A5DD120D767}"/>
              </a:ext>
            </a:extLst>
          </p:cNvPr>
          <p:cNvSpPr txBox="1"/>
          <p:nvPr/>
        </p:nvSpPr>
        <p:spPr>
          <a:xfrm>
            <a:off x="958645" y="570271"/>
            <a:ext cx="10515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4. Analytical Approach</a:t>
            </a:r>
          </a:p>
          <a:p>
            <a:r>
              <a:rPr lang="en-US" sz="2000" b="1" dirty="0"/>
              <a:t>4.1 Exploratory Data Analysis (EDA)</a:t>
            </a:r>
          </a:p>
          <a:p>
            <a:r>
              <a:rPr lang="en-US" sz="2000" dirty="0"/>
              <a:t>EDA helped understand trends, distributions, and variable relationships. Key observations:</a:t>
            </a:r>
          </a:p>
          <a:p>
            <a:r>
              <a:rPr lang="en-US" sz="2000" dirty="0"/>
              <a:t>Income and spending show clear separations visually.</a:t>
            </a:r>
          </a:p>
          <a:p>
            <a:r>
              <a:rPr lang="en-US" sz="2000" dirty="0"/>
              <a:t>Spending Score varies more by age than expected.</a:t>
            </a:r>
          </a:p>
          <a:p>
            <a:r>
              <a:rPr lang="en-US" sz="2000" dirty="0"/>
              <a:t>Gender ratio: 56% Female, 44% Male.</a:t>
            </a:r>
          </a:p>
          <a:p>
            <a:r>
              <a:rPr lang="en-US" sz="2000" dirty="0"/>
              <a:t>Scatterplots suggested multiple natural groupings even before clustering.</a:t>
            </a:r>
          </a:p>
          <a:p>
            <a:r>
              <a:rPr lang="en-US" sz="2000" b="1" dirty="0"/>
              <a:t>4.2 Why K-Means Clustering?</a:t>
            </a:r>
          </a:p>
          <a:p>
            <a:r>
              <a:rPr lang="en-US" sz="2000" dirty="0"/>
              <a:t>K-Means is efficient for identifying customer groups with similar behavior.</a:t>
            </a:r>
            <a:br>
              <a:rPr lang="en-US" sz="2000" dirty="0"/>
            </a:br>
            <a:r>
              <a:rPr lang="en-US" sz="2000" dirty="0"/>
              <a:t>It groups customers by minimizing the distance between each customer and the cluster’s centroid.</a:t>
            </a:r>
          </a:p>
          <a:p>
            <a:r>
              <a:rPr lang="en-US" sz="2000" b="1" dirty="0"/>
              <a:t>4.3 Selecting the Optimal Number of Clusters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Elbow Method</a:t>
            </a:r>
            <a:r>
              <a:rPr lang="en-US" sz="2000" dirty="0"/>
              <a:t> was used to determine the ideal number of clusters.</a:t>
            </a:r>
          </a:p>
          <a:p>
            <a:r>
              <a:rPr lang="en-US" sz="2000" dirty="0"/>
              <a:t>WCSS (inertia) was plotted against K values from 1–10.</a:t>
            </a:r>
          </a:p>
          <a:p>
            <a:r>
              <a:rPr lang="en-US" sz="2000" dirty="0"/>
              <a:t>The curve flattened after </a:t>
            </a:r>
            <a:r>
              <a:rPr lang="en-US" sz="2000" b="1" dirty="0"/>
              <a:t>K = 5</a:t>
            </a:r>
            <a:r>
              <a:rPr lang="en-US" sz="2000" dirty="0"/>
              <a:t>, indicating diminishing returns.</a:t>
            </a:r>
          </a:p>
          <a:p>
            <a:r>
              <a:rPr lang="en-US" sz="2000" dirty="0"/>
              <a:t>Therefore, </a:t>
            </a:r>
            <a:r>
              <a:rPr lang="en-US" sz="2000" b="1" dirty="0"/>
              <a:t>five clusters</a:t>
            </a:r>
            <a:r>
              <a:rPr lang="en-US" sz="2000" dirty="0"/>
              <a:t> were selected for segmentation.</a:t>
            </a:r>
          </a:p>
        </p:txBody>
      </p:sp>
    </p:spTree>
    <p:extLst>
      <p:ext uri="{BB962C8B-B14F-4D97-AF65-F5344CB8AC3E}">
        <p14:creationId xmlns:p14="http://schemas.microsoft.com/office/powerpoint/2010/main" val="174722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46FC502-5B88-DB0B-AA40-040E1FF0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79" y="678426"/>
            <a:ext cx="10466642" cy="571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F54F0D-E8D8-4991-2FF5-9880C59CF63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56" y="619433"/>
            <a:ext cx="9461688" cy="5203570"/>
          </a:xfrm>
        </p:spPr>
      </p:pic>
    </p:spTree>
    <p:extLst>
      <p:ext uri="{BB962C8B-B14F-4D97-AF65-F5344CB8AC3E}">
        <p14:creationId xmlns:p14="http://schemas.microsoft.com/office/powerpoint/2010/main" val="4195440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0308FF-445D-E905-4147-335FFB22F79D}"/>
              </a:ext>
            </a:extLst>
          </p:cNvPr>
          <p:cNvSpPr/>
          <p:nvPr/>
        </p:nvSpPr>
        <p:spPr>
          <a:xfrm>
            <a:off x="609169" y="488192"/>
            <a:ext cx="10068232" cy="55453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C35E185-EB7B-5EA8-E72B-05A372A91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319" y="824414"/>
            <a:ext cx="977899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r>
              <a:rPr lang="en-US" altLang="en-US" b="1" dirty="0">
                <a:latin typeface="Arial" panose="020B0604020202020204" pitchFamily="34" charset="0"/>
              </a:rPr>
              <a:t>5. Customer Segmentation Results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The clustering model produced </a:t>
            </a:r>
            <a:r>
              <a:rPr lang="en-US" altLang="en-US" b="1" dirty="0">
                <a:latin typeface="Arial" panose="020B0604020202020204" pitchFamily="34" charset="0"/>
              </a:rPr>
              <a:t>five distinct customer segments</a:t>
            </a:r>
            <a:r>
              <a:rPr lang="en-US" altLang="en-US" dirty="0">
                <a:latin typeface="Arial" panose="020B0604020202020204" pitchFamily="34" charset="0"/>
              </a:rPr>
              <a:t>, summarized below:</a:t>
            </a: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Cluster Profiles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Core Insight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Two clusters offer the strongest marketing opportunities: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Cluster 4:</a:t>
            </a:r>
            <a:r>
              <a:rPr lang="en-US" altLang="en-US" dirty="0">
                <a:latin typeface="Arial" panose="020B0604020202020204" pitchFamily="34" charset="0"/>
              </a:rPr>
              <a:t> High income + high spending → </a:t>
            </a:r>
            <a:r>
              <a:rPr lang="en-US" altLang="en-US" i="1" dirty="0">
                <a:latin typeface="Arial" panose="020B0604020202020204" pitchFamily="34" charset="0"/>
              </a:rPr>
              <a:t>Most profitable group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Cluster 2:</a:t>
            </a:r>
            <a:r>
              <a:rPr lang="en-US" altLang="en-US" dirty="0">
                <a:latin typeface="Arial" panose="020B0604020202020204" pitchFamily="34" charset="0"/>
              </a:rPr>
              <a:t> Low income + high spending → </a:t>
            </a:r>
            <a:r>
              <a:rPr lang="en-US" altLang="en-US" i="1" dirty="0">
                <a:latin typeface="Arial" panose="020B0604020202020204" pitchFamily="34" charset="0"/>
              </a:rPr>
              <a:t>Highest engagement potential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A163C9-4C80-DE4C-1794-EBCAD94AF6B4}"/>
              </a:ext>
            </a:extLst>
          </p:cNvPr>
          <p:cNvSpPr txBox="1"/>
          <p:nvPr/>
        </p:nvSpPr>
        <p:spPr>
          <a:xfrm>
            <a:off x="994788" y="4825720"/>
            <a:ext cx="9572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Pictures for references – Straight out from analysis on </a:t>
            </a:r>
            <a:r>
              <a:rPr lang="en-US" sz="2400" dirty="0" err="1"/>
              <a:t>jyupiter</a:t>
            </a:r>
            <a:r>
              <a:rPr lang="en-US" sz="2400" dirty="0"/>
              <a:t> notebook :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03812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194D-225C-9FB3-A4BA-088FD1AA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FF9282-3288-5E9E-D83F-1D6B1D94E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0" y="357642"/>
            <a:ext cx="10986935" cy="5792875"/>
          </a:xfrm>
        </p:spPr>
      </p:pic>
    </p:spTree>
    <p:extLst>
      <p:ext uri="{BB962C8B-B14F-4D97-AF65-F5344CB8AC3E}">
        <p14:creationId xmlns:p14="http://schemas.microsoft.com/office/powerpoint/2010/main" val="840069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E2F1E4-8617-E07E-6348-069295672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927" y="303089"/>
            <a:ext cx="6874983" cy="599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0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A570C-2F15-63E6-EEE7-254BA1583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523" y="226466"/>
            <a:ext cx="6804974" cy="64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70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A7E799-FA7D-C1D9-6750-BE5DDD693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47" y="347187"/>
            <a:ext cx="5382714" cy="616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35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BA157-FDCD-5980-B01F-2C99FAB69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634" y="121557"/>
            <a:ext cx="6106049" cy="661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66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A4A197-A448-C023-D22E-D2654FE85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109" y="205092"/>
            <a:ext cx="9105781" cy="625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3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06B1A3-3CD6-54C9-9411-096849867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860" y="90157"/>
            <a:ext cx="6359797" cy="641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41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91CF29-336D-DA5F-62F3-70CF40E71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177" y="141988"/>
            <a:ext cx="8625646" cy="657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93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8CD6E-CCF5-9C0D-CEC8-B06C7EF9E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9" y="422031"/>
            <a:ext cx="11597542" cy="566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84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41DE3E-70D6-15EE-02CE-8ED3FF2D0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48" y="275951"/>
            <a:ext cx="5542765" cy="630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32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5B534-D2DF-AF33-108D-AE8C0169A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041" y="204029"/>
            <a:ext cx="7930830" cy="644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3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EC2AC3-35E3-C848-B3FD-98D6CDF345C9}"/>
              </a:ext>
            </a:extLst>
          </p:cNvPr>
          <p:cNvSpPr/>
          <p:nvPr/>
        </p:nvSpPr>
        <p:spPr>
          <a:xfrm>
            <a:off x="586154" y="266280"/>
            <a:ext cx="11180466" cy="64959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4106C-1FA9-9750-BE6A-534972F3F894}"/>
              </a:ext>
            </a:extLst>
          </p:cNvPr>
          <p:cNvSpPr txBox="1"/>
          <p:nvPr/>
        </p:nvSpPr>
        <p:spPr>
          <a:xfrm>
            <a:off x="723481" y="266281"/>
            <a:ext cx="10882365" cy="6495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6. Segment-by-Segment Interpretation</a:t>
            </a:r>
          </a:p>
          <a:p>
            <a:pPr algn="ctr"/>
            <a:r>
              <a:rPr lang="en-US" sz="1400" b="1" dirty="0"/>
              <a:t>Cluster 4 — High Value (The VIPs)</a:t>
            </a:r>
          </a:p>
          <a:p>
            <a:pPr algn="ctr"/>
            <a:r>
              <a:rPr lang="en-US" sz="1400" b="1" dirty="0"/>
              <a:t>Income:</a:t>
            </a:r>
            <a:r>
              <a:rPr lang="en-US" sz="1400" dirty="0"/>
              <a:t> Highest</a:t>
            </a:r>
          </a:p>
          <a:p>
            <a:pPr algn="ctr"/>
            <a:r>
              <a:rPr lang="en-US" sz="1400" b="1" dirty="0"/>
              <a:t>Spending Score:</a:t>
            </a:r>
            <a:r>
              <a:rPr lang="en-US" sz="1400" dirty="0"/>
              <a:t> Highest</a:t>
            </a:r>
          </a:p>
          <a:p>
            <a:pPr algn="ctr"/>
            <a:r>
              <a:rPr lang="en-US" sz="1400" b="1" dirty="0"/>
              <a:t>Behavior:</a:t>
            </a:r>
            <a:r>
              <a:rPr lang="en-US" sz="1400" dirty="0"/>
              <a:t> Purchases premium products regularly</a:t>
            </a:r>
          </a:p>
          <a:p>
            <a:pPr algn="ctr"/>
            <a:r>
              <a:rPr lang="en-US" sz="1400" b="1" dirty="0"/>
              <a:t>Opportunity:</a:t>
            </a:r>
            <a:r>
              <a:rPr lang="en-US" sz="1400" dirty="0"/>
              <a:t> Maximize long-term loyalty</a:t>
            </a:r>
          </a:p>
          <a:p>
            <a:pPr algn="ctr"/>
            <a:r>
              <a:rPr lang="en-US" sz="1400" b="1" dirty="0"/>
              <a:t>Risk:</a:t>
            </a:r>
            <a:r>
              <a:rPr lang="en-US" sz="1400" dirty="0"/>
              <a:t> Expect premium service and quality</a:t>
            </a:r>
          </a:p>
          <a:p>
            <a:pPr algn="ctr"/>
            <a:r>
              <a:rPr lang="en-US" sz="1400" b="1" dirty="0"/>
              <a:t>Cluster 2 — Targeted Spenders (The Spenders)</a:t>
            </a:r>
          </a:p>
          <a:p>
            <a:pPr algn="ctr"/>
            <a:r>
              <a:rPr lang="en-US" sz="1400" b="1" dirty="0"/>
              <a:t>Income:</a:t>
            </a:r>
            <a:r>
              <a:rPr lang="en-US" sz="1400" dirty="0"/>
              <a:t> Low</a:t>
            </a:r>
          </a:p>
          <a:p>
            <a:pPr algn="ctr"/>
            <a:r>
              <a:rPr lang="en-US" sz="1400" b="1" dirty="0"/>
              <a:t>Spending Score:</a:t>
            </a:r>
            <a:r>
              <a:rPr lang="en-US" sz="1400" dirty="0"/>
              <a:t> Very High</a:t>
            </a:r>
          </a:p>
          <a:p>
            <a:pPr algn="ctr"/>
            <a:r>
              <a:rPr lang="en-US" sz="1400" b="1" dirty="0"/>
              <a:t>Behavior:</a:t>
            </a:r>
            <a:r>
              <a:rPr lang="en-US" sz="1400" dirty="0"/>
              <a:t> Young customers who splurge on trend-driven items</a:t>
            </a:r>
          </a:p>
          <a:p>
            <a:pPr algn="ctr"/>
            <a:r>
              <a:rPr lang="en-US" sz="1400" b="1" dirty="0"/>
              <a:t>Opportunity:</a:t>
            </a:r>
            <a:r>
              <a:rPr lang="en-US" sz="1400" dirty="0"/>
              <a:t> Influencer marketing, flash sales</a:t>
            </a:r>
          </a:p>
          <a:p>
            <a:pPr algn="ctr"/>
            <a:r>
              <a:rPr lang="en-US" sz="1400" b="1" dirty="0"/>
              <a:t>Risk:</a:t>
            </a:r>
            <a:r>
              <a:rPr lang="en-US" sz="1400" dirty="0"/>
              <a:t> Sensitive to promotions and peer influence</a:t>
            </a:r>
          </a:p>
          <a:p>
            <a:pPr algn="ctr"/>
            <a:r>
              <a:rPr lang="en-US" sz="1400" b="1" dirty="0"/>
              <a:t>Cluster 0 — Standard Segment (The Middle Ground)</a:t>
            </a:r>
          </a:p>
          <a:p>
            <a:pPr algn="ctr"/>
            <a:r>
              <a:rPr lang="en-US" sz="1400" b="1" dirty="0"/>
              <a:t>Income:</a:t>
            </a:r>
            <a:r>
              <a:rPr lang="en-US" sz="1400" dirty="0"/>
              <a:t> Mid-range</a:t>
            </a:r>
          </a:p>
          <a:p>
            <a:pPr algn="ctr"/>
            <a:r>
              <a:rPr lang="en-US" sz="1400" b="1" dirty="0"/>
              <a:t>Spending Score:</a:t>
            </a:r>
            <a:r>
              <a:rPr lang="en-US" sz="1400" dirty="0"/>
              <a:t> Mid-range</a:t>
            </a:r>
          </a:p>
          <a:p>
            <a:pPr algn="ctr"/>
            <a:r>
              <a:rPr lang="en-US" sz="1400" b="1" dirty="0"/>
              <a:t>Behavior:</a:t>
            </a:r>
            <a:r>
              <a:rPr lang="en-US" sz="1400" dirty="0"/>
              <a:t> Consistent and predictable</a:t>
            </a:r>
          </a:p>
          <a:p>
            <a:pPr algn="ctr"/>
            <a:r>
              <a:rPr lang="en-US" sz="1400" b="1" dirty="0"/>
              <a:t>Opportunity:</a:t>
            </a:r>
            <a:r>
              <a:rPr lang="en-US" sz="1400" dirty="0"/>
              <a:t> Upsell into higher-value categories</a:t>
            </a:r>
          </a:p>
          <a:p>
            <a:pPr algn="ctr"/>
            <a:r>
              <a:rPr lang="en-US" sz="1400" b="1" dirty="0"/>
              <a:t>Cluster 3 — Budget-Conscious (The Cautious)</a:t>
            </a:r>
          </a:p>
          <a:p>
            <a:pPr algn="ctr"/>
            <a:r>
              <a:rPr lang="en-US" sz="1400" b="1" dirty="0"/>
              <a:t>Income:</a:t>
            </a:r>
            <a:r>
              <a:rPr lang="en-US" sz="1400" dirty="0"/>
              <a:t> Low</a:t>
            </a:r>
          </a:p>
          <a:p>
            <a:pPr algn="ctr"/>
            <a:r>
              <a:rPr lang="en-US" sz="1400" b="1" dirty="0"/>
              <a:t>Spending Score:</a:t>
            </a:r>
            <a:r>
              <a:rPr lang="en-US" sz="1400" dirty="0"/>
              <a:t> Low</a:t>
            </a:r>
          </a:p>
          <a:p>
            <a:pPr algn="ctr"/>
            <a:r>
              <a:rPr lang="en-US" sz="1400" b="1" dirty="0"/>
              <a:t>Behavior:</a:t>
            </a:r>
            <a:r>
              <a:rPr lang="en-US" sz="1400" dirty="0"/>
              <a:t> Value-seeking, infrequent shoppers</a:t>
            </a:r>
          </a:p>
          <a:p>
            <a:pPr algn="ctr"/>
            <a:r>
              <a:rPr lang="en-US" sz="1400" b="1" dirty="0"/>
              <a:t>Opportunity:</a:t>
            </a:r>
            <a:r>
              <a:rPr lang="en-US" sz="1400" dirty="0"/>
              <a:t> Essentials, discount-driven marketing</a:t>
            </a:r>
          </a:p>
          <a:p>
            <a:pPr algn="ctr"/>
            <a:r>
              <a:rPr lang="en-US" sz="1400" b="1" dirty="0"/>
              <a:t>Cluster 1 — Low Engagement (The Savers)</a:t>
            </a:r>
          </a:p>
          <a:p>
            <a:pPr algn="ctr"/>
            <a:r>
              <a:rPr lang="en-US" sz="1400" b="1" dirty="0"/>
              <a:t>Income:</a:t>
            </a:r>
            <a:r>
              <a:rPr lang="en-US" sz="1400" dirty="0"/>
              <a:t> High</a:t>
            </a:r>
          </a:p>
          <a:p>
            <a:pPr algn="ctr"/>
            <a:r>
              <a:rPr lang="en-US" sz="1400" b="1" dirty="0"/>
              <a:t>Spending Score:</a:t>
            </a:r>
            <a:r>
              <a:rPr lang="en-US" sz="1400" dirty="0"/>
              <a:t> Very Low</a:t>
            </a:r>
          </a:p>
          <a:p>
            <a:pPr algn="ctr"/>
            <a:r>
              <a:rPr lang="en-US" sz="1400" b="1" dirty="0"/>
              <a:t>Behavior:</a:t>
            </a:r>
            <a:r>
              <a:rPr lang="en-US" sz="1400" dirty="0"/>
              <a:t> Rarely purchases at the mall</a:t>
            </a:r>
          </a:p>
          <a:p>
            <a:pPr algn="ctr"/>
            <a:r>
              <a:rPr lang="en-US" sz="1400" b="1" dirty="0"/>
              <a:t>Opportunity:</a:t>
            </a:r>
            <a:r>
              <a:rPr lang="en-US" sz="1400" dirty="0"/>
              <a:t> Explore reasons for disengagement</a:t>
            </a:r>
          </a:p>
          <a:p>
            <a:pPr algn="ctr"/>
            <a:r>
              <a:rPr lang="en-US" sz="1400" b="1" dirty="0"/>
              <a:t>Risk:</a:t>
            </a:r>
            <a:r>
              <a:rPr lang="en-US" sz="1400" dirty="0"/>
              <a:t> Money spent in competing stores or online</a:t>
            </a:r>
          </a:p>
        </p:txBody>
      </p:sp>
    </p:spTree>
    <p:extLst>
      <p:ext uri="{BB962C8B-B14F-4D97-AF65-F5344CB8AC3E}">
        <p14:creationId xmlns:p14="http://schemas.microsoft.com/office/powerpoint/2010/main" val="2798525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33D9C1-889A-7935-A859-B6F812A8AF59}"/>
              </a:ext>
            </a:extLst>
          </p:cNvPr>
          <p:cNvSpPr/>
          <p:nvPr/>
        </p:nvSpPr>
        <p:spPr>
          <a:xfrm>
            <a:off x="552659" y="391885"/>
            <a:ext cx="10979499" cy="63684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40E62-0A78-8578-3C17-681C273A219D}"/>
              </a:ext>
            </a:extLst>
          </p:cNvPr>
          <p:cNvSpPr txBox="1"/>
          <p:nvPr/>
        </p:nvSpPr>
        <p:spPr>
          <a:xfrm>
            <a:off x="793820" y="512467"/>
            <a:ext cx="530217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7. Marketing Strategies — Segment Focus</a:t>
            </a:r>
          </a:p>
          <a:p>
            <a:r>
              <a:rPr lang="en-IN" sz="1600" b="1" dirty="0"/>
              <a:t>Cluster 4 — High Value (VIPs)</a:t>
            </a:r>
          </a:p>
          <a:p>
            <a:r>
              <a:rPr lang="en-IN" sz="1600" b="1" dirty="0"/>
              <a:t>Goal:</a:t>
            </a:r>
            <a:r>
              <a:rPr lang="en-IN" sz="1600" dirty="0"/>
              <a:t> Retain and increase loyalty</a:t>
            </a:r>
            <a:br>
              <a:rPr lang="en-IN" sz="1600" dirty="0"/>
            </a:br>
            <a:r>
              <a:rPr lang="en-IN" sz="1600" b="1" dirty="0"/>
              <a:t>Strategies:</a:t>
            </a:r>
            <a:endParaRPr lang="en-IN" sz="1600" dirty="0"/>
          </a:p>
          <a:p>
            <a:r>
              <a:rPr lang="en-IN" sz="1600" dirty="0"/>
              <a:t>Exclusive loyalty tiers</a:t>
            </a:r>
          </a:p>
          <a:p>
            <a:r>
              <a:rPr lang="en-IN" sz="1600" dirty="0"/>
              <a:t>Private launch events</a:t>
            </a:r>
          </a:p>
          <a:p>
            <a:r>
              <a:rPr lang="en-IN" sz="1600" dirty="0"/>
              <a:t>Premium services</a:t>
            </a:r>
          </a:p>
          <a:p>
            <a:r>
              <a:rPr lang="en-IN" sz="1600" dirty="0"/>
              <a:t>Personalized offers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Cluster 2 — Targeted Spenders</a:t>
            </a:r>
          </a:p>
          <a:p>
            <a:r>
              <a:rPr lang="en-IN" sz="1600" b="1" dirty="0"/>
              <a:t>Goal:</a:t>
            </a:r>
            <a:r>
              <a:rPr lang="en-IN" sz="1600" dirty="0"/>
              <a:t> Maximize spending through engagement</a:t>
            </a:r>
            <a:br>
              <a:rPr lang="en-IN" sz="1600" dirty="0"/>
            </a:br>
            <a:r>
              <a:rPr lang="en-IN" sz="1600" b="1" dirty="0"/>
              <a:t>Strategies:</a:t>
            </a:r>
            <a:endParaRPr lang="en-IN" sz="1600" dirty="0"/>
          </a:p>
          <a:p>
            <a:r>
              <a:rPr lang="en-IN" sz="1600" dirty="0"/>
              <a:t>Trend-based promotions</a:t>
            </a:r>
          </a:p>
          <a:p>
            <a:r>
              <a:rPr lang="en-IN" sz="1600" dirty="0"/>
              <a:t>Influencer-driven ads</a:t>
            </a:r>
          </a:p>
          <a:p>
            <a:r>
              <a:rPr lang="en-IN" sz="1600" dirty="0"/>
              <a:t>Flash sales &amp; limited drops</a:t>
            </a:r>
          </a:p>
          <a:p>
            <a:r>
              <a:rPr lang="en-IN" sz="1600" dirty="0"/>
              <a:t>Flexible payment options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Cluster 0 — Standard Segment</a:t>
            </a:r>
          </a:p>
          <a:p>
            <a:r>
              <a:rPr lang="en-IN" sz="1600" b="1" dirty="0"/>
              <a:t>Goal:</a:t>
            </a:r>
            <a:r>
              <a:rPr lang="en-IN" sz="1600" dirty="0"/>
              <a:t> Improve visit frequency</a:t>
            </a:r>
            <a:br>
              <a:rPr lang="en-IN" sz="1600" dirty="0"/>
            </a:br>
            <a:r>
              <a:rPr lang="en-IN" sz="1600" b="1" dirty="0"/>
              <a:t>Strategies:</a:t>
            </a:r>
            <a:endParaRPr lang="en-IN" sz="1600" dirty="0"/>
          </a:p>
          <a:p>
            <a:r>
              <a:rPr lang="en-IN" sz="1600" dirty="0"/>
              <a:t>Weekly deals</a:t>
            </a:r>
          </a:p>
          <a:p>
            <a:r>
              <a:rPr lang="en-IN" sz="1600" dirty="0"/>
              <a:t>Seasonal campaigns</a:t>
            </a:r>
          </a:p>
          <a:p>
            <a:r>
              <a:rPr lang="en-IN" sz="1600" dirty="0"/>
              <a:t>Medium-tier rewards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14293-F013-7559-7596-1EA1CD8C8332}"/>
              </a:ext>
            </a:extLst>
          </p:cNvPr>
          <p:cNvSpPr txBox="1"/>
          <p:nvPr/>
        </p:nvSpPr>
        <p:spPr>
          <a:xfrm flipH="1">
            <a:off x="6095999" y="512467"/>
            <a:ext cx="530217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Additional Segment Strategies</a:t>
            </a:r>
          </a:p>
          <a:p>
            <a:r>
              <a:rPr lang="en-US" b="1"/>
              <a:t>Cluster 3 — Budget-Conscious</a:t>
            </a:r>
          </a:p>
          <a:p>
            <a:r>
              <a:rPr lang="en-US" b="1"/>
              <a:t>Goal:</a:t>
            </a:r>
            <a:r>
              <a:rPr lang="en-US"/>
              <a:t> Increase low-ticket purchases</a:t>
            </a:r>
            <a:br>
              <a:rPr lang="en-US"/>
            </a:br>
            <a:r>
              <a:rPr lang="en-US" b="1"/>
              <a:t>Strategies:</a:t>
            </a:r>
            <a:endParaRPr lang="en-US"/>
          </a:p>
          <a:p>
            <a:r>
              <a:rPr lang="en-US"/>
              <a:t>Bulk discounts</a:t>
            </a:r>
          </a:p>
          <a:p>
            <a:r>
              <a:rPr lang="en-US"/>
              <a:t>Clearance sales</a:t>
            </a:r>
          </a:p>
          <a:p>
            <a:r>
              <a:rPr lang="en-US"/>
              <a:t>Price-match guarantees</a:t>
            </a:r>
          </a:p>
          <a:p>
            <a:r>
              <a:rPr lang="en-US"/>
              <a:t>Store-brand essentials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Cluster 1 — Low Engagement</a:t>
            </a:r>
          </a:p>
          <a:p>
            <a:r>
              <a:rPr lang="en-US" b="1"/>
              <a:t>Goal:</a:t>
            </a:r>
            <a:r>
              <a:rPr lang="en-US"/>
              <a:t> Reactivate high-income customers</a:t>
            </a:r>
            <a:br>
              <a:rPr lang="en-US"/>
            </a:br>
            <a:r>
              <a:rPr lang="en-US" b="1"/>
              <a:t>Strategies:</a:t>
            </a:r>
            <a:endParaRPr lang="en-US"/>
          </a:p>
          <a:p>
            <a:r>
              <a:rPr lang="en-US"/>
              <a:t>Personalized surveys</a:t>
            </a:r>
          </a:p>
          <a:p>
            <a:r>
              <a:rPr lang="en-US"/>
              <a:t>Gift card incentives</a:t>
            </a:r>
          </a:p>
          <a:p>
            <a:r>
              <a:rPr lang="en-US"/>
              <a:t>Premium trial services</a:t>
            </a:r>
          </a:p>
          <a:p>
            <a:r>
              <a:rPr lang="en-US"/>
              <a:t>Exclusive invitations</a:t>
            </a:r>
          </a:p>
        </p:txBody>
      </p:sp>
    </p:spTree>
    <p:extLst>
      <p:ext uri="{BB962C8B-B14F-4D97-AF65-F5344CB8AC3E}">
        <p14:creationId xmlns:p14="http://schemas.microsoft.com/office/powerpoint/2010/main" val="3373049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FDA0FD-FB2D-A31C-7927-BC778BC722B9}"/>
              </a:ext>
            </a:extLst>
          </p:cNvPr>
          <p:cNvSpPr txBox="1"/>
          <p:nvPr/>
        </p:nvSpPr>
        <p:spPr>
          <a:xfrm>
            <a:off x="562708" y="422030"/>
            <a:ext cx="10801978" cy="55366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5B147-D705-BEB8-46A9-2F0CC5C0CE82}"/>
              </a:ext>
            </a:extLst>
          </p:cNvPr>
          <p:cNvSpPr txBox="1"/>
          <p:nvPr/>
        </p:nvSpPr>
        <p:spPr>
          <a:xfrm>
            <a:off x="723481" y="633046"/>
            <a:ext cx="1047038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8. Conclusion</a:t>
            </a:r>
          </a:p>
          <a:p>
            <a:r>
              <a:rPr lang="en-US" sz="2000" dirty="0"/>
              <a:t>The K-Means clustering model successfully identified </a:t>
            </a:r>
            <a:r>
              <a:rPr lang="en-US" sz="2000" b="1" dirty="0"/>
              <a:t>five meaningful customer segments</a:t>
            </a:r>
            <a:r>
              <a:rPr lang="en-US" sz="2000" dirty="0"/>
              <a:t>, each with unique characteristics and marketing needs. This segmentation enables the mall to shift from broad, uniform marketing to </a:t>
            </a:r>
            <a:r>
              <a:rPr lang="en-US" sz="2000" b="1" dirty="0"/>
              <a:t>highly targeted, data-driven strategies</a:t>
            </a:r>
            <a:r>
              <a:rPr lang="en-US" sz="2000" dirty="0"/>
              <a:t>.</a:t>
            </a:r>
          </a:p>
          <a:p>
            <a:r>
              <a:rPr lang="en-US" sz="2000" dirty="0"/>
              <a:t>Key insights:</a:t>
            </a:r>
          </a:p>
          <a:p>
            <a:r>
              <a:rPr lang="en-US" sz="2000" b="1" dirty="0"/>
              <a:t>Cluster 4 (High Value VIPs)</a:t>
            </a:r>
            <a:r>
              <a:rPr lang="en-US" sz="2000" dirty="0"/>
              <a:t> delivers the strongest long-term profitability.</a:t>
            </a:r>
          </a:p>
          <a:p>
            <a:r>
              <a:rPr lang="en-US" sz="2000" b="1" dirty="0"/>
              <a:t>Cluster 2 (Targeted Spenders)</a:t>
            </a:r>
            <a:r>
              <a:rPr lang="en-US" sz="2000" dirty="0"/>
              <a:t> offers immediate revenue potential through strategic promotions.</a:t>
            </a:r>
          </a:p>
          <a:p>
            <a:r>
              <a:rPr lang="en-US" sz="2000" dirty="0"/>
              <a:t>Other clusters require balanced marketing efforts to boost conversion and retention.</a:t>
            </a:r>
          </a:p>
          <a:p>
            <a:r>
              <a:rPr lang="en-US" sz="2000" dirty="0"/>
              <a:t>By implementing cluster-specific marketing strategies, the mall can expect:</a:t>
            </a:r>
          </a:p>
          <a:p>
            <a:r>
              <a:rPr lang="en-US" sz="2000" dirty="0"/>
              <a:t>Higher marketing ROI</a:t>
            </a:r>
          </a:p>
          <a:p>
            <a:r>
              <a:rPr lang="en-US" sz="2000" dirty="0"/>
              <a:t>Improved customer satisfaction</a:t>
            </a:r>
          </a:p>
          <a:p>
            <a:r>
              <a:rPr lang="en-US" sz="2000" dirty="0"/>
              <a:t>Increased purchase frequency</a:t>
            </a:r>
          </a:p>
          <a:p>
            <a:r>
              <a:rPr lang="en-US" sz="2000" dirty="0"/>
              <a:t>Enhanced revenue across multiple segments</a:t>
            </a:r>
          </a:p>
          <a:p>
            <a:r>
              <a:rPr lang="en-US" sz="2000" dirty="0"/>
              <a:t>This segmentation framework can be extended and refined further with additional variables such as customer visit frequency, product categories purchased, and online behavior.</a:t>
            </a:r>
          </a:p>
        </p:txBody>
      </p:sp>
    </p:spTree>
    <p:extLst>
      <p:ext uri="{BB962C8B-B14F-4D97-AF65-F5344CB8AC3E}">
        <p14:creationId xmlns:p14="http://schemas.microsoft.com/office/powerpoint/2010/main" val="1523118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398A3-2543-2BAB-82FF-7BAE663602DE}"/>
              </a:ext>
            </a:extLst>
          </p:cNvPr>
          <p:cNvSpPr txBox="1"/>
          <p:nvPr/>
        </p:nvSpPr>
        <p:spPr>
          <a:xfrm>
            <a:off x="3165232" y="811666"/>
            <a:ext cx="8088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Author and Contact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65C8D-B21A-D7F1-F8D8-2E2E32C89BE9}"/>
              </a:ext>
            </a:extLst>
          </p:cNvPr>
          <p:cNvSpPr txBox="1"/>
          <p:nvPr/>
        </p:nvSpPr>
        <p:spPr>
          <a:xfrm>
            <a:off x="3165232" y="1889091"/>
            <a:ext cx="7425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E24CA-17AC-441B-7EB6-BE6CE3A37BEB}"/>
              </a:ext>
            </a:extLst>
          </p:cNvPr>
          <p:cNvSpPr txBox="1"/>
          <p:nvPr/>
        </p:nvSpPr>
        <p:spPr>
          <a:xfrm>
            <a:off x="3165232" y="2181478"/>
            <a:ext cx="5566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Shreeganesh Bhat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B467E-08F0-CB36-EC42-DEC2AF4A9E60}"/>
              </a:ext>
            </a:extLst>
          </p:cNvPr>
          <p:cNvSpPr txBox="1"/>
          <p:nvPr/>
        </p:nvSpPr>
        <p:spPr>
          <a:xfrm>
            <a:off x="3165233" y="2997086"/>
            <a:ext cx="60290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Analyst</a:t>
            </a:r>
          </a:p>
          <a:p>
            <a:r>
              <a:rPr lang="en-US" dirty="0"/>
              <a:t>Email : shriganeshbhat0@gmail.com</a:t>
            </a:r>
          </a:p>
          <a:p>
            <a:r>
              <a:rPr lang="en-US" dirty="0" err="1"/>
              <a:t>Linkedin</a:t>
            </a:r>
            <a:r>
              <a:rPr lang="en-US" dirty="0"/>
              <a:t> : https://www.linkedin.com/in/shreeganesh-bhat-8a8184398?utm_source=share&amp;utm_campaign=share_via&amp;utm_content=profile&amp;utm_medium=android_app</a:t>
            </a:r>
          </a:p>
          <a:p>
            <a:r>
              <a:rPr lang="en-US" dirty="0" err="1"/>
              <a:t>Github</a:t>
            </a:r>
            <a:r>
              <a:rPr lang="en-US" dirty="0"/>
              <a:t> :https://github.com/shriganeshbhat0-git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935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F18199-E73D-D8E8-57BA-D22588D85DF5}"/>
              </a:ext>
            </a:extLst>
          </p:cNvPr>
          <p:cNvSpPr txBox="1"/>
          <p:nvPr/>
        </p:nvSpPr>
        <p:spPr>
          <a:xfrm>
            <a:off x="3476728" y="2582426"/>
            <a:ext cx="7867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Thank you 💐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08941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Microsoft Office PowerPoint</Application>
  <PresentationFormat>Widescreen</PresentationFormat>
  <Paragraphs>121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Shreeganesh Bhat</dc:creator>
  <cp:lastModifiedBy>Shreeganesh Bhat</cp:lastModifiedBy>
  <cp:revision>1</cp:revision>
  <dcterms:created xsi:type="dcterms:W3CDTF">2025-12-02T14:51:08Z</dcterms:created>
  <dcterms:modified xsi:type="dcterms:W3CDTF">2025-12-02T14:51:08Z</dcterms:modified>
</cp:coreProperties>
</file>